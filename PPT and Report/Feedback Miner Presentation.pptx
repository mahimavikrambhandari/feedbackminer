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54" r:id="rId3"/>
  </p:sldMasterIdLst>
  <p:notesMasterIdLst>
    <p:notesMasterId r:id="rId10"/>
  </p:notesMasterIdLst>
  <p:sldIdLst>
    <p:sldId id="2147481328" r:id="rId4"/>
    <p:sldId id="256" r:id="rId5"/>
    <p:sldId id="257" r:id="rId6"/>
    <p:sldId id="2147481396" r:id="rId7"/>
    <p:sldId id="2147481398" r:id="rId8"/>
    <p:sldId id="2147481395" r:id="rId9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86CAF1-0BF5-3382-8919-84D1AF038A9F}" v="54" dt="2026-05-11T08:00:37.510"/>
    <p1510:client id="{13C1543C-18C4-6516-5F28-F1B8C197627F}" v="19" dt="2026-05-11T08:08:15.982"/>
    <p1510:client id="{32595FDB-B338-249C-491B-36294470E82B}" v="1" dt="2026-05-11T07:59:01.965"/>
    <p1510:client id="{C6D81432-61F3-CAB0-166C-F7CC44C5D7EC}" v="631" dt="2026-05-10T19:03:04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ima Munjal" userId="S::10347092@nttdata.com::62371e5a-7e8a-4815-a4b5-23e2e1340218" providerId="AD" clId="Web-{1186CAF1-0BF5-3382-8919-84D1AF038A9F}"/>
    <pc:docChg chg="modSld">
      <pc:chgData name="Mahima Munjal" userId="S::10347092@nttdata.com::62371e5a-7e8a-4815-a4b5-23e2e1340218" providerId="AD" clId="Web-{1186CAF1-0BF5-3382-8919-84D1AF038A9F}" dt="2026-05-11T08:00:37.510" v="53" actId="20577"/>
      <pc:docMkLst>
        <pc:docMk/>
      </pc:docMkLst>
      <pc:sldChg chg="modSp">
        <pc:chgData name="Mahima Munjal" userId="S::10347092@nttdata.com::62371e5a-7e8a-4815-a4b5-23e2e1340218" providerId="AD" clId="Web-{1186CAF1-0BF5-3382-8919-84D1AF038A9F}" dt="2026-05-11T08:00:37.510" v="53" actId="20577"/>
        <pc:sldMkLst>
          <pc:docMk/>
          <pc:sldMk cId="969055118" sldId="2147481328"/>
        </pc:sldMkLst>
        <pc:spChg chg="mod">
          <ac:chgData name="Mahima Munjal" userId="S::10347092@nttdata.com::62371e5a-7e8a-4815-a4b5-23e2e1340218" providerId="AD" clId="Web-{1186CAF1-0BF5-3382-8919-84D1AF038A9F}" dt="2026-05-11T08:00:37.510" v="53" actId="20577"/>
          <ac:spMkLst>
            <pc:docMk/>
            <pc:sldMk cId="969055118" sldId="2147481328"/>
            <ac:spMk id="9" creationId="{E13429DD-7708-C4B2-04F6-88B9AC61643D}"/>
          </ac:spMkLst>
        </pc:spChg>
      </pc:sldChg>
    </pc:docChg>
  </pc:docChgLst>
  <pc:docChgLst>
    <pc:chgData name="Abhipsha Satpathy" userId="S::10348511@nttdata.com::1d2c7edc-2ffa-488d-b399-8f997a6e4770" providerId="AD" clId="Web-{32595FDB-B338-249C-491B-36294470E82B}"/>
    <pc:docChg chg="modSld">
      <pc:chgData name="Abhipsha Satpathy" userId="S::10348511@nttdata.com::1d2c7edc-2ffa-488d-b399-8f997a6e4770" providerId="AD" clId="Web-{32595FDB-B338-249C-491B-36294470E82B}" dt="2026-05-11T07:59:01.965" v="0" actId="1076"/>
      <pc:docMkLst>
        <pc:docMk/>
      </pc:docMkLst>
      <pc:sldChg chg="modSp">
        <pc:chgData name="Abhipsha Satpathy" userId="S::10348511@nttdata.com::1d2c7edc-2ffa-488d-b399-8f997a6e4770" providerId="AD" clId="Web-{32595FDB-B338-249C-491B-36294470E82B}" dt="2026-05-11T07:59:01.965" v="0" actId="1076"/>
        <pc:sldMkLst>
          <pc:docMk/>
          <pc:sldMk cId="0" sldId="256"/>
        </pc:sldMkLst>
        <pc:spChg chg="mod">
          <ac:chgData name="Abhipsha Satpathy" userId="S::10348511@nttdata.com::1d2c7edc-2ffa-488d-b399-8f997a6e4770" providerId="AD" clId="Web-{32595FDB-B338-249C-491B-36294470E82B}" dt="2026-05-11T07:59:01.965" v="0" actId="1076"/>
          <ac:spMkLst>
            <pc:docMk/>
            <pc:sldMk cId="0" sldId="256"/>
            <ac:spMk id="43" creationId="{49D58CFA-1573-0F70-356B-2421296D5ABF}"/>
          </ac:spMkLst>
        </pc:spChg>
      </pc:sldChg>
    </pc:docChg>
  </pc:docChgLst>
  <pc:docChgLst>
    <pc:chgData name="Mahima Munjal" userId="S::10347092@nttdata.com::62371e5a-7e8a-4815-a4b5-23e2e1340218" providerId="AD" clId="Web-{C6D81432-61F3-CAB0-166C-F7CC44C5D7EC}"/>
    <pc:docChg chg="modSld">
      <pc:chgData name="Mahima Munjal" userId="S::10347092@nttdata.com::62371e5a-7e8a-4815-a4b5-23e2e1340218" providerId="AD" clId="Web-{C6D81432-61F3-CAB0-166C-F7CC44C5D7EC}" dt="2026-05-10T19:03:04.904" v="629" actId="20577"/>
      <pc:docMkLst>
        <pc:docMk/>
      </pc:docMkLst>
      <pc:sldChg chg="addSp delSp modSp">
        <pc:chgData name="Mahima Munjal" userId="S::10347092@nttdata.com::62371e5a-7e8a-4815-a4b5-23e2e1340218" providerId="AD" clId="Web-{C6D81432-61F3-CAB0-166C-F7CC44C5D7EC}" dt="2026-05-10T19:02:22.498" v="618" actId="1076"/>
        <pc:sldMkLst>
          <pc:docMk/>
          <pc:sldMk cId="0" sldId="256"/>
        </pc:sldMkLst>
        <pc:spChg chg="mod">
          <ac:chgData name="Mahima Munjal" userId="S::10347092@nttdata.com::62371e5a-7e8a-4815-a4b5-23e2e1340218" providerId="AD" clId="Web-{C6D81432-61F3-CAB0-166C-F7CC44C5D7EC}" dt="2026-05-10T18:55:15.457" v="37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hima Munjal" userId="S::10347092@nttdata.com::62371e5a-7e8a-4815-a4b5-23e2e1340218" providerId="AD" clId="Web-{C6D81432-61F3-CAB0-166C-F7CC44C5D7EC}" dt="2026-05-10T18:55:20.645" v="374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Mahima Munjal" userId="S::10347092@nttdata.com::62371e5a-7e8a-4815-a4b5-23e2e1340218" providerId="AD" clId="Web-{C6D81432-61F3-CAB0-166C-F7CC44C5D7EC}" dt="2026-05-10T18:52:03.135" v="229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Mahima Munjal" userId="S::10347092@nttdata.com::62371e5a-7e8a-4815-a4b5-23e2e1340218" providerId="AD" clId="Web-{C6D81432-61F3-CAB0-166C-F7CC44C5D7EC}" dt="2026-05-10T18:51:59.619" v="228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Mahima Munjal" userId="S::10347092@nttdata.com::62371e5a-7e8a-4815-a4b5-23e2e1340218" providerId="AD" clId="Web-{C6D81432-61F3-CAB0-166C-F7CC44C5D7EC}" dt="2026-05-10T18:51:47.243" v="227" actId="20577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Mahima Munjal" userId="S::10347092@nttdata.com::62371e5a-7e8a-4815-a4b5-23e2e1340218" providerId="AD" clId="Web-{C6D81432-61F3-CAB0-166C-F7CC44C5D7EC}" dt="2026-05-10T18:49:10.562" v="143"/>
          <ac:spMkLst>
            <pc:docMk/>
            <pc:sldMk cId="0" sldId="256"/>
            <ac:spMk id="7" creationId="{00000000-0000-0000-0000-000000000000}"/>
          </ac:spMkLst>
        </pc:spChg>
        <pc:spChg chg="mod">
          <ac:chgData name="Mahima Munjal" userId="S::10347092@nttdata.com::62371e5a-7e8a-4815-a4b5-23e2e1340218" providerId="AD" clId="Web-{C6D81432-61F3-CAB0-166C-F7CC44C5D7EC}" dt="2026-05-10T19:02:22.498" v="618" actId="1076"/>
          <ac:spMkLst>
            <pc:docMk/>
            <pc:sldMk cId="0" sldId="256"/>
            <ac:spMk id="8" creationId="{00000000-0000-0000-0000-000000000000}"/>
          </ac:spMkLst>
        </pc:spChg>
        <pc:spChg chg="add mod">
          <ac:chgData name="Mahima Munjal" userId="S::10347092@nttdata.com::62371e5a-7e8a-4815-a4b5-23e2e1340218" providerId="AD" clId="Web-{C6D81432-61F3-CAB0-166C-F7CC44C5D7EC}" dt="2026-05-10T18:56:11.475" v="383" actId="1076"/>
          <ac:spMkLst>
            <pc:docMk/>
            <pc:sldMk cId="0" sldId="256"/>
            <ac:spMk id="9" creationId="{6E5E37CD-9993-B306-57A5-D93618598D8E}"/>
          </ac:spMkLst>
        </pc:spChg>
        <pc:spChg chg="mod">
          <ac:chgData name="Mahima Munjal" userId="S::10347092@nttdata.com::62371e5a-7e8a-4815-a4b5-23e2e1340218" providerId="AD" clId="Web-{C6D81432-61F3-CAB0-166C-F7CC44C5D7EC}" dt="2026-05-10T19:01:40.013" v="542" actId="20577"/>
          <ac:spMkLst>
            <pc:docMk/>
            <pc:sldMk cId="0" sldId="256"/>
            <ac:spMk id="10" creationId="{00000000-0000-0000-0000-000000000000}"/>
          </ac:spMkLst>
        </pc:spChg>
        <pc:spChg chg="del mod">
          <ac:chgData name="Mahima Munjal" userId="S::10347092@nttdata.com::62371e5a-7e8a-4815-a4b5-23e2e1340218" providerId="AD" clId="Web-{C6D81432-61F3-CAB0-166C-F7CC44C5D7EC}" dt="2026-05-10T18:50:58.333" v="217"/>
          <ac:spMkLst>
            <pc:docMk/>
            <pc:sldMk cId="0" sldId="256"/>
            <ac:spMk id="11" creationId="{00000000-0000-0000-0000-000000000000}"/>
          </ac:spMkLst>
        </pc:spChg>
        <pc:spChg chg="add del mod">
          <ac:chgData name="Mahima Munjal" userId="S::10347092@nttdata.com::62371e5a-7e8a-4815-a4b5-23e2e1340218" providerId="AD" clId="Web-{C6D81432-61F3-CAB0-166C-F7CC44C5D7EC}" dt="2026-05-10T18:58:30.681" v="427" actId="1076"/>
          <ac:spMkLst>
            <pc:docMk/>
            <pc:sldMk cId="0" sldId="256"/>
            <ac:spMk id="12" creationId="{34DBD233-EB84-8CBF-05F0-BBC15EB74E88}"/>
          </ac:spMkLst>
        </pc:spChg>
        <pc:spChg chg="mod">
          <ac:chgData name="Mahima Munjal" userId="S::10347092@nttdata.com::62371e5a-7e8a-4815-a4b5-23e2e1340218" providerId="AD" clId="Web-{C6D81432-61F3-CAB0-166C-F7CC44C5D7EC}" dt="2026-05-10T18:51:12.147" v="221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ahima Munjal" userId="S::10347092@nttdata.com::62371e5a-7e8a-4815-a4b5-23e2e1340218" providerId="AD" clId="Web-{C6D81432-61F3-CAB0-166C-F7CC44C5D7EC}" dt="2026-05-10T18:51:20.491" v="224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Mahima Munjal" userId="S::10347092@nttdata.com::62371e5a-7e8a-4815-a4b5-23e2e1340218" providerId="AD" clId="Web-{C6D81432-61F3-CAB0-166C-F7CC44C5D7EC}" dt="2026-05-10T18:56:08.818" v="382"/>
          <ac:spMkLst>
            <pc:docMk/>
            <pc:sldMk cId="0" sldId="256"/>
            <ac:spMk id="19" creationId="{00000000-0000-0000-0000-000000000000}"/>
          </ac:spMkLst>
        </pc:spChg>
        <pc:spChg chg="mod">
          <ac:chgData name="Mahima Munjal" userId="S::10347092@nttdata.com::62371e5a-7e8a-4815-a4b5-23e2e1340218" providerId="AD" clId="Web-{C6D81432-61F3-CAB0-166C-F7CC44C5D7EC}" dt="2026-05-10T18:55:34.114" v="378"/>
          <ac:spMkLst>
            <pc:docMk/>
            <pc:sldMk cId="0" sldId="256"/>
            <ac:spMk id="22" creationId="{00000000-0000-0000-0000-000000000000}"/>
          </ac:spMkLst>
        </pc:spChg>
        <pc:spChg chg="mod">
          <ac:chgData name="Mahima Munjal" userId="S::10347092@nttdata.com::62371e5a-7e8a-4815-a4b5-23e2e1340218" providerId="AD" clId="Web-{C6D81432-61F3-CAB0-166C-F7CC44C5D7EC}" dt="2026-05-10T18:53:13.436" v="266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Mahima Munjal" userId="S::10347092@nttdata.com::62371e5a-7e8a-4815-a4b5-23e2e1340218" providerId="AD" clId="Web-{C6D81432-61F3-CAB0-166C-F7CC44C5D7EC}" dt="2026-05-10T18:51:17.350" v="223" actId="1076"/>
          <ac:spMkLst>
            <pc:docMk/>
            <pc:sldMk cId="0" sldId="256"/>
            <ac:spMk id="34" creationId="{9582580D-41F4-3020-233B-80880E5B029C}"/>
          </ac:spMkLst>
        </pc:spChg>
        <pc:spChg chg="mod">
          <ac:chgData name="Mahima Munjal" userId="S::10347092@nttdata.com::62371e5a-7e8a-4815-a4b5-23e2e1340218" providerId="AD" clId="Web-{C6D81432-61F3-CAB0-166C-F7CC44C5D7EC}" dt="2026-05-10T19:01:27.387" v="537" actId="20577"/>
          <ac:spMkLst>
            <pc:docMk/>
            <pc:sldMk cId="0" sldId="256"/>
            <ac:spMk id="35" creationId="{A3C955EE-76DB-9A19-2549-2EEBB64874E5}"/>
          </ac:spMkLst>
        </pc:spChg>
        <pc:spChg chg="mod">
          <ac:chgData name="Mahima Munjal" userId="S::10347092@nttdata.com::62371e5a-7e8a-4815-a4b5-23e2e1340218" providerId="AD" clId="Web-{C6D81432-61F3-CAB0-166C-F7CC44C5D7EC}" dt="2026-05-10T19:01:26.856" v="536" actId="20577"/>
          <ac:spMkLst>
            <pc:docMk/>
            <pc:sldMk cId="0" sldId="256"/>
            <ac:spMk id="37" creationId="{3EFC753F-8347-2C7A-772E-6FEAB6099F6B}"/>
          </ac:spMkLst>
        </pc:spChg>
        <pc:spChg chg="mod">
          <ac:chgData name="Mahima Munjal" userId="S::10347092@nttdata.com::62371e5a-7e8a-4815-a4b5-23e2e1340218" providerId="AD" clId="Web-{C6D81432-61F3-CAB0-166C-F7CC44C5D7EC}" dt="2026-05-10T19:01:26.325" v="535" actId="20577"/>
          <ac:spMkLst>
            <pc:docMk/>
            <pc:sldMk cId="0" sldId="256"/>
            <ac:spMk id="39" creationId="{C000155A-2872-F5FD-DE12-BB2BB66000C9}"/>
          </ac:spMkLst>
        </pc:spChg>
        <pc:spChg chg="mod">
          <ac:chgData name="Mahima Munjal" userId="S::10347092@nttdata.com::62371e5a-7e8a-4815-a4b5-23e2e1340218" providerId="AD" clId="Web-{C6D81432-61F3-CAB0-166C-F7CC44C5D7EC}" dt="2026-05-10T19:01:21.762" v="532" actId="20577"/>
          <ac:spMkLst>
            <pc:docMk/>
            <pc:sldMk cId="0" sldId="256"/>
            <ac:spMk id="41" creationId="{6E66EB7E-3E04-315B-0FF5-FD12E29C96DD}"/>
          </ac:spMkLst>
        </pc:spChg>
        <pc:spChg chg="mod">
          <ac:chgData name="Mahima Munjal" userId="S::10347092@nttdata.com::62371e5a-7e8a-4815-a4b5-23e2e1340218" providerId="AD" clId="Web-{C6D81432-61F3-CAB0-166C-F7CC44C5D7EC}" dt="2026-05-10T19:02:12.560" v="617" actId="20577"/>
          <ac:spMkLst>
            <pc:docMk/>
            <pc:sldMk cId="0" sldId="256"/>
            <ac:spMk id="43" creationId="{49D58CFA-1573-0F70-356B-2421296D5ABF}"/>
          </ac:spMkLst>
        </pc:spChg>
      </pc:sldChg>
      <pc:sldChg chg="modSp">
        <pc:chgData name="Mahima Munjal" userId="S::10347092@nttdata.com::62371e5a-7e8a-4815-a4b5-23e2e1340218" providerId="AD" clId="Web-{C6D81432-61F3-CAB0-166C-F7CC44C5D7EC}" dt="2026-05-10T19:03:04.904" v="629" actId="20577"/>
        <pc:sldMkLst>
          <pc:docMk/>
          <pc:sldMk cId="0" sldId="257"/>
        </pc:sldMkLst>
        <pc:spChg chg="mod">
          <ac:chgData name="Mahima Munjal" userId="S::10347092@nttdata.com::62371e5a-7e8a-4815-a4b5-23e2e1340218" providerId="AD" clId="Web-{C6D81432-61F3-CAB0-166C-F7CC44C5D7EC}" dt="2026-05-10T19:03:04.904" v="629" actId="20577"/>
          <ac:spMkLst>
            <pc:docMk/>
            <pc:sldMk cId="0" sldId="257"/>
            <ac:spMk id="19" creationId="{00000000-0000-0000-0000-000000000000}"/>
          </ac:spMkLst>
        </pc:spChg>
      </pc:sldChg>
    </pc:docChg>
  </pc:docChgLst>
  <pc:docChgLst>
    <pc:chgData name="Mahima Munjal" userId="S::10347092@nttdata.com::62371e5a-7e8a-4815-a4b5-23e2e1340218" providerId="AD" clId="Web-{13C1543C-18C4-6516-5F28-F1B8C197627F}"/>
    <pc:docChg chg="modSld">
      <pc:chgData name="Mahima Munjal" userId="S::10347092@nttdata.com::62371e5a-7e8a-4815-a4b5-23e2e1340218" providerId="AD" clId="Web-{13C1543C-18C4-6516-5F28-F1B8C197627F}" dt="2026-05-11T08:08:15.982" v="16"/>
      <pc:docMkLst>
        <pc:docMk/>
      </pc:docMkLst>
      <pc:sldChg chg="delSp modSp">
        <pc:chgData name="Mahima Munjal" userId="S::10347092@nttdata.com::62371e5a-7e8a-4815-a4b5-23e2e1340218" providerId="AD" clId="Web-{13C1543C-18C4-6516-5F28-F1B8C197627F}" dt="2026-05-11T08:08:15.982" v="16"/>
        <pc:sldMkLst>
          <pc:docMk/>
          <pc:sldMk cId="0" sldId="256"/>
        </pc:sldMkLst>
        <pc:spChg chg="mod">
          <ac:chgData name="Mahima Munjal" userId="S::10347092@nttdata.com::62371e5a-7e8a-4815-a4b5-23e2e1340218" providerId="AD" clId="Web-{13C1543C-18C4-6516-5F28-F1B8C197627F}" dt="2026-05-11T08:07:10.980" v="3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Mahima Munjal" userId="S::10347092@nttdata.com::62371e5a-7e8a-4815-a4b5-23e2e1340218" providerId="AD" clId="Web-{13C1543C-18C4-6516-5F28-F1B8C197627F}" dt="2026-05-11T08:08:15.982" v="16"/>
          <ac:spMkLst>
            <pc:docMk/>
            <pc:sldMk cId="0" sldId="256"/>
            <ac:spMk id="31" creationId="{00000000-0000-0000-0000-000000000000}"/>
          </ac:spMkLst>
        </pc:spChg>
        <pc:spChg chg="mod">
          <ac:chgData name="Mahima Munjal" userId="S::10347092@nttdata.com::62371e5a-7e8a-4815-a4b5-23e2e1340218" providerId="AD" clId="Web-{13C1543C-18C4-6516-5F28-F1B8C197627F}" dt="2026-05-11T08:07:00.902" v="0" actId="20577"/>
          <ac:spMkLst>
            <pc:docMk/>
            <pc:sldMk cId="0" sldId="256"/>
            <ac:spMk id="42" creationId="{5735AC3B-1D1E-F983-A109-3AAE637CBB4D}"/>
          </ac:spMkLst>
        </pc:spChg>
        <pc:spChg chg="del mod">
          <ac:chgData name="Mahima Munjal" userId="S::10347092@nttdata.com::62371e5a-7e8a-4815-a4b5-23e2e1340218" providerId="AD" clId="Web-{13C1543C-18C4-6516-5F28-F1B8C197627F}" dt="2026-05-11T08:07:16.606" v="5"/>
          <ac:spMkLst>
            <pc:docMk/>
            <pc:sldMk cId="0" sldId="256"/>
            <ac:spMk id="43" creationId="{49D58CFA-1573-0F70-356B-2421296D5ABF}"/>
          </ac:spMkLst>
        </pc:spChg>
      </pc:sldChg>
      <pc:sldChg chg="modSp">
        <pc:chgData name="Mahima Munjal" userId="S::10347092@nttdata.com::62371e5a-7e8a-4815-a4b5-23e2e1340218" providerId="AD" clId="Web-{13C1543C-18C4-6516-5F28-F1B8C197627F}" dt="2026-05-11T08:07:46.778" v="15" actId="20577"/>
        <pc:sldMkLst>
          <pc:docMk/>
          <pc:sldMk cId="969055118" sldId="2147481328"/>
        </pc:sldMkLst>
        <pc:spChg chg="mod">
          <ac:chgData name="Mahima Munjal" userId="S::10347092@nttdata.com::62371e5a-7e8a-4815-a4b5-23e2e1340218" providerId="AD" clId="Web-{13C1543C-18C4-6516-5F28-F1B8C197627F}" dt="2026-05-11T08:07:46.778" v="15" actId="20577"/>
          <ac:spMkLst>
            <pc:docMk/>
            <pc:sldMk cId="969055118" sldId="2147481328"/>
            <ac:spMk id="5" creationId="{5671DBF8-81A7-9FE7-57D3-9CD874C25B61}"/>
          </ac:spMkLst>
        </pc:spChg>
        <pc:spChg chg="mod">
          <ac:chgData name="Mahima Munjal" userId="S::10347092@nttdata.com::62371e5a-7e8a-4815-a4b5-23e2e1340218" providerId="AD" clId="Web-{13C1543C-18C4-6516-5F28-F1B8C197627F}" dt="2026-05-11T08:07:32.278" v="6" actId="1076"/>
          <ac:spMkLst>
            <pc:docMk/>
            <pc:sldMk cId="969055118" sldId="2147481328"/>
            <ac:spMk id="8" creationId="{31759756-E6FE-4FFA-8F5E-B04C401C522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0508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, Ful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mart Navy SemiTrans Overlay">
            <a:extLst>
              <a:ext uri="{FF2B5EF4-FFF2-40B4-BE49-F238E27FC236}">
                <a16:creationId xmlns:a16="http://schemas.microsoft.com/office/drawing/2014/main" id="{3F234039-F9BC-AAAE-A07E-DCF4926965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"/>
            <a:ext cx="9144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Innovation Curve Overlay">
            <a:extLst>
              <a:ext uri="{FF2B5EF4-FFF2-40B4-BE49-F238E27FC236}">
                <a16:creationId xmlns:a16="http://schemas.microsoft.com/office/drawing/2014/main" id="{67EFF21B-9583-6EE9-5F33-149287A6B01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screen">
              <a:alphaModFix amt="4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..</a:t>
            </a:r>
          </a:p>
        </p:txBody>
      </p:sp>
      <p:sp>
        <p:nvSpPr>
          <p:cNvPr id="8" name="Cover Photo Placeholder">
            <a:extLst>
              <a:ext uri="{FF2B5EF4-FFF2-40B4-BE49-F238E27FC236}">
                <a16:creationId xmlns:a16="http://schemas.microsoft.com/office/drawing/2014/main" id="{4B3E92DB-5563-6F86-C3D4-DF362E507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D87E2A77-DBB3-3923-0029-4D3148E74DC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285750" y="6324601"/>
            <a:ext cx="971550" cy="304800"/>
          </a:xfrm>
        </p:spPr>
        <p:txBody>
          <a:bodyPr/>
          <a:lstStyle/>
          <a:p>
            <a:endParaRPr lang="en-US" noProof="0"/>
          </a:p>
        </p:txBody>
      </p:sp>
      <p:sp>
        <p:nvSpPr>
          <p:cNvPr id="13" name="Legal Line">
            <a:extLst>
              <a:ext uri="{FF2B5EF4-FFF2-40B4-BE49-F238E27FC236}">
                <a16:creationId xmlns:a16="http://schemas.microsoft.com/office/drawing/2014/main" id="{36D0E9C7-1F5A-81CC-4242-80983EF9D3C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371600" y="6324602"/>
            <a:ext cx="3086100" cy="304800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© 2026 NTT DATA, Inc.</a:t>
            </a:r>
          </a:p>
        </p:txBody>
      </p:sp>
      <p:sp>
        <p:nvSpPr>
          <p:cNvPr id="14" name="Information Type">
            <a:extLst>
              <a:ext uri="{FF2B5EF4-FFF2-40B4-BE49-F238E27FC236}">
                <a16:creationId xmlns:a16="http://schemas.microsoft.com/office/drawing/2014/main" id="{F8A3F60F-BBBB-8A08-44FD-39E6AB0E20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86650" y="359796"/>
            <a:ext cx="154941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900" b="0" i="0" kern="12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  <p:sp>
        <p:nvSpPr>
          <p:cNvPr id="7" name="NTT DATA Global Logo" descr="NTT DATA Global Logo">
            <a:extLst>
              <a:ext uri="{FF2B5EF4-FFF2-40B4-BE49-F238E27FC236}">
                <a16:creationId xmlns:a16="http://schemas.microsoft.com/office/drawing/2014/main" id="{67CD9146-46D1-2584-90C9-AC323E0D78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 bwMode="black">
          <a:xfrm>
            <a:off x="301752" y="320041"/>
            <a:ext cx="1469793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89963B8-6E2F-5789-EF80-E5E2D21D1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5750" y="3810000"/>
            <a:ext cx="360045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2438400"/>
            <a:ext cx="360045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801481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, Paartial Innovatio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mart Navy SemiTrans Overlay">
            <a:extLst>
              <a:ext uri="{FF2B5EF4-FFF2-40B4-BE49-F238E27FC236}">
                <a16:creationId xmlns:a16="http://schemas.microsoft.com/office/drawing/2014/main" id="{3F234039-F9BC-AAAE-A07E-DCF4926965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2"/>
            <a:ext cx="9144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D87E2A77-DBB3-3923-0029-4D3148E74DC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285750" y="6324601"/>
            <a:ext cx="971550" cy="304800"/>
          </a:xfrm>
        </p:spPr>
        <p:txBody>
          <a:bodyPr/>
          <a:lstStyle/>
          <a:p>
            <a:endParaRPr lang="en-US" noProof="0"/>
          </a:p>
        </p:txBody>
      </p:sp>
      <p:sp>
        <p:nvSpPr>
          <p:cNvPr id="13" name="Legal Line">
            <a:extLst>
              <a:ext uri="{FF2B5EF4-FFF2-40B4-BE49-F238E27FC236}">
                <a16:creationId xmlns:a16="http://schemas.microsoft.com/office/drawing/2014/main" id="{36D0E9C7-1F5A-81CC-4242-80983EF9D3C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371600" y="6324602"/>
            <a:ext cx="3086100" cy="304800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© 2026 NTT DATA, Inc.</a:t>
            </a:r>
          </a:p>
        </p:txBody>
      </p:sp>
      <p:sp>
        <p:nvSpPr>
          <p:cNvPr id="14" name="Information Type">
            <a:extLst>
              <a:ext uri="{FF2B5EF4-FFF2-40B4-BE49-F238E27FC236}">
                <a16:creationId xmlns:a16="http://schemas.microsoft.com/office/drawing/2014/main" id="{F8A3F60F-BBBB-8A08-44FD-39E6AB0E20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86650" y="359796"/>
            <a:ext cx="154941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900" b="0" i="0" kern="12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D957E5C-35D4-A4D9-6D53-531FEABE9B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screen">
              <a:alphaModFix amt="4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  =</a:t>
            </a:r>
          </a:p>
        </p:txBody>
      </p:sp>
      <p:sp>
        <p:nvSpPr>
          <p:cNvPr id="8" name="Cover Photo Placeholder">
            <a:extLst>
              <a:ext uri="{FF2B5EF4-FFF2-40B4-BE49-F238E27FC236}">
                <a16:creationId xmlns:a16="http://schemas.microsoft.com/office/drawing/2014/main" id="{4B3E92DB-5563-6F86-C3D4-DF362E507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7" name="NTT DATA Global Logo" descr="NTT DATA Global Logo">
            <a:extLst>
              <a:ext uri="{FF2B5EF4-FFF2-40B4-BE49-F238E27FC236}">
                <a16:creationId xmlns:a16="http://schemas.microsoft.com/office/drawing/2014/main" id="{67CD9146-46D1-2584-90C9-AC323E0D78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 bwMode="black">
          <a:xfrm>
            <a:off x="301752" y="320041"/>
            <a:ext cx="1469793" cy="40007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89963B8-6E2F-5789-EF80-E5E2D21D18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5750" y="3810000"/>
            <a:ext cx="3600450" cy="533400"/>
          </a:xfrm>
          <a:prstGeom prst="rect">
            <a:avLst/>
          </a:prstGeom>
        </p:spPr>
        <p:txBody>
          <a:bodyPr lIns="0" tIns="45720" rIns="0"/>
          <a:lstStyle>
            <a:lvl1pPr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2438400"/>
            <a:ext cx="360045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536394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3F234039-F9BC-AAAE-A07E-DCF4926965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2"/>
            <a:ext cx="9144000" cy="6857999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">
            <a:extLst>
              <a:ext uri="{FF2B5EF4-FFF2-40B4-BE49-F238E27FC236}">
                <a16:creationId xmlns:a16="http://schemas.microsoft.com/office/drawing/2014/main" id="{44AC6934-5FBE-FCD3-D1F4-5F0671E877A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8721CA36-DC1A-9DA0-482B-013C59CEC0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5750" y="3810000"/>
            <a:ext cx="8572500" cy="533400"/>
          </a:xfrm>
          <a:prstGeom prst="rect">
            <a:avLst/>
          </a:prstGeom>
        </p:spPr>
        <p:txBody>
          <a:bodyPr lIns="0" tIns="45720" rIns="0"/>
          <a:lstStyle>
            <a:lvl1pPr algn="l">
              <a:defRPr lang="en-US" dirty="0" smtClean="0"/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enter/edit subtitle text</a:t>
            </a:r>
          </a:p>
        </p:txBody>
      </p:sp>
      <p:sp>
        <p:nvSpPr>
          <p:cNvPr id="2" name="MainTitle">
            <a:extLst>
              <a:ext uri="{FF2B5EF4-FFF2-40B4-BE49-F238E27FC236}">
                <a16:creationId xmlns:a16="http://schemas.microsoft.com/office/drawing/2014/main" id="{32F4D80C-C221-F8D0-FC62-DDD4F8E726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2438400"/>
            <a:ext cx="8572500" cy="1371600"/>
          </a:xfrm>
        </p:spPr>
        <p:txBody>
          <a:bodyPr/>
          <a:lstStyle/>
          <a:p>
            <a:r>
              <a:rPr lang="en-US" noProof="0"/>
              <a:t>Click to edit title</a:t>
            </a:r>
          </a:p>
        </p:txBody>
      </p:sp>
      <p:sp>
        <p:nvSpPr>
          <p:cNvPr id="5" name="Legal Line">
            <a:extLst>
              <a:ext uri="{FF2B5EF4-FFF2-40B4-BE49-F238E27FC236}">
                <a16:creationId xmlns:a16="http://schemas.microsoft.com/office/drawing/2014/main" id="{8F5AF9E9-1EA9-189A-D454-5A87BA7AE18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371600" y="6324602"/>
            <a:ext cx="3086100" cy="304800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© 2026 NTT DATA, Inc.</a:t>
            </a:r>
          </a:p>
        </p:txBody>
      </p:sp>
      <p:sp>
        <p:nvSpPr>
          <p:cNvPr id="7" name="InformationType">
            <a:extLst>
              <a:ext uri="{FF2B5EF4-FFF2-40B4-BE49-F238E27FC236}">
                <a16:creationId xmlns:a16="http://schemas.microsoft.com/office/drawing/2014/main" id="{51B77B86-8916-AB81-4396-509FE36516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86650" y="6324601"/>
            <a:ext cx="1549410" cy="304800"/>
          </a:xfrm>
          <a:prstGeom prst="rect">
            <a:avLst/>
          </a:prstGeom>
        </p:spPr>
        <p:txBody>
          <a:bodyPr anchor="ctr"/>
          <a:lstStyle>
            <a:lvl1pPr algn="ctr">
              <a:defRPr lang="en-US" sz="900" b="0" i="0" kern="12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[Information Type]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A0CD6D9D-8D6C-BE0D-BAC6-0180996D77B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9144000" cy="6862482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111A4B15-57F9-BE95-1E63-1DD7D499E2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/>
          </p:nvPr>
        </p:nvSpPr>
        <p:spPr bwMode="black">
          <a:xfrm>
            <a:off x="301752" y="320041"/>
            <a:ext cx="1469793" cy="40007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888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ture 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2A4A4756-BF09-2DAA-9B2B-7274ADF973F2}"/>
              </a:ext>
            </a:extLst>
          </p:cNvPr>
          <p:cNvSpPr/>
          <p:nvPr userDrawn="1"/>
        </p:nvSpPr>
        <p:spPr bwMode="black">
          <a:xfrm>
            <a:off x="2552603" y="2880360"/>
            <a:ext cx="4038796" cy="1097280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FFFFFF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087450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Navy"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TT DATA Global Logo" descr="NTT DATA Global Logo">
            <a:extLst>
              <a:ext uri="{FF2B5EF4-FFF2-40B4-BE49-F238E27FC236}">
                <a16:creationId xmlns:a16="http://schemas.microsoft.com/office/drawing/2014/main" id="{1615296B-7D86-833D-E6BA-B94DB6EC001E}"/>
              </a:ext>
            </a:extLst>
          </p:cNvPr>
          <p:cNvSpPr/>
          <p:nvPr userDrawn="1"/>
        </p:nvSpPr>
        <p:spPr bwMode="black">
          <a:xfrm>
            <a:off x="2552603" y="2880360"/>
            <a:ext cx="4038796" cy="1097280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FFFFFF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06085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TT DATA Global Logo" descr="NTT DATA Global Logo">
            <a:extLst>
              <a:ext uri="{FF2B5EF4-FFF2-40B4-BE49-F238E27FC236}">
                <a16:creationId xmlns:a16="http://schemas.microsoft.com/office/drawing/2014/main" id="{9B1656D1-90B8-BAEC-BAE1-40408FA32F2C}"/>
              </a:ext>
            </a:extLst>
          </p:cNvPr>
          <p:cNvSpPr/>
          <p:nvPr userDrawn="1"/>
        </p:nvSpPr>
        <p:spPr bwMode="black">
          <a:xfrm>
            <a:off x="2552603" y="2880360"/>
            <a:ext cx="4038796" cy="1097280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accent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794957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0D73EB22-28B8-EDF3-DAF5-3AC807C66A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50D24">
              <a:alpha val="57647"/>
            </a:srgbClr>
          </a:solid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NTT DATA Global Logo" descr="NTT DATA Global Logo">
            <a:extLst>
              <a:ext uri="{FF2B5EF4-FFF2-40B4-BE49-F238E27FC236}">
                <a16:creationId xmlns:a16="http://schemas.microsoft.com/office/drawing/2014/main" id="{534A451C-A194-D71D-4CF6-5B22A3878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black">
          <a:xfrm>
            <a:off x="2500432" y="2865120"/>
            <a:ext cx="4143137" cy="112776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none" lIns="0" tIns="0" rIns="0" bIns="0"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2F858FA1-7D21-8F05-79E4-62B789D77D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6860241"/>
          </a:xfrm>
          <a:prstGeom prst="rect">
            <a:avLst/>
          </a:prstGeom>
          <a:noFill/>
        </p:spPr>
        <p:txBody>
          <a:bodyPr tIns="2743200" bIns="0" anchor="ctr"/>
          <a:lstStyle>
            <a:lvl1pPr marL="0" indent="0" algn="ctr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add image. Then Reorder: Send to back</a:t>
            </a:r>
          </a:p>
        </p:txBody>
      </p:sp>
    </p:spTree>
    <p:extLst>
      <p:ext uri="{BB962C8B-B14F-4D97-AF65-F5344CB8AC3E}">
        <p14:creationId xmlns:p14="http://schemas.microsoft.com/office/powerpoint/2010/main" val="1965253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>
            <a:extLst>
              <a:ext uri="{FF2B5EF4-FFF2-40B4-BE49-F238E27FC236}">
                <a16:creationId xmlns:a16="http://schemas.microsoft.com/office/drawing/2014/main" id="{C3A244F4-DCC8-926C-C40B-97795E7EE6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5750" y="6324601"/>
            <a:ext cx="97155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F8F8F8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9" name="Legal">
            <a:extLst>
              <a:ext uri="{FF2B5EF4-FFF2-40B4-BE49-F238E27FC236}">
                <a16:creationId xmlns:a16="http://schemas.microsoft.com/office/drawing/2014/main" id="{326E4B9D-7B25-6F98-95C6-44F5E186EA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324602"/>
            <a:ext cx="3086100" cy="304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CA"/>
              <a:t>© 2026 NTT DATA, Inc.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C985B73-0F18-F280-6DFA-98D9E7E3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2438400"/>
            <a:ext cx="3714750" cy="137160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r>
              <a:rPr lang="en-US" noProof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564645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lang="en-US" sz="3600" b="0" i="0" kern="1200" dirty="0">
          <a:solidFill>
            <a:srgbClr val="F8F8F8"/>
          </a:solidFill>
          <a:latin typeface="Georgia" panose="02040502050405020303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lang="en-US" sz="1500" b="0" i="0" kern="1200" dirty="0" smtClean="0">
          <a:solidFill>
            <a:srgbClr val="F8F8F8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322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mailto:Mahima.Munjal@nttdata.com" TargetMode="External"/><Relationship Id="rId7" Type="http://schemas.openxmlformats.org/officeDocument/2006/relationships/image" Target="../media/image5.png"/><Relationship Id="rId2" Type="http://schemas.openxmlformats.org/officeDocument/2006/relationships/hyperlink" Target="mailto:Abhipsha.Satpathy@nttdata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SatyaPrakash.Arya@nttdata.com" TargetMode="External"/><Relationship Id="rId5" Type="http://schemas.openxmlformats.org/officeDocument/2006/relationships/hyperlink" Target="mailto:GhadgeSupriya.Kailas@nttdata.com" TargetMode="External"/><Relationship Id="rId4" Type="http://schemas.openxmlformats.org/officeDocument/2006/relationships/hyperlink" Target="mailto:Mahima.Bhandari@nttdata.com" TargetMode="Externa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ver Photo" descr="A group of tall buildings">
            <a:extLst>
              <a:ext uri="{FF2B5EF4-FFF2-40B4-BE49-F238E27FC236}">
                <a16:creationId xmlns:a16="http://schemas.microsoft.com/office/drawing/2014/main" id="{D1784304-20CA-2595-A2CF-CFD02E4EF6F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" b="81"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91235-C283-783D-AF49-E845205D04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E82A2-356B-1BC2-C482-7770727F7B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Legal">
            <a:extLst>
              <a:ext uri="{FF2B5EF4-FFF2-40B4-BE49-F238E27FC236}">
                <a16:creationId xmlns:a16="http://schemas.microsoft.com/office/drawing/2014/main" id="{31759756-E6FE-4FFA-8F5E-B04C401C522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28600" y="6264967"/>
            <a:ext cx="3086100" cy="304800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9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tint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2026 NTT DATA, Inc.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71DBF8-81A7-9FE7-57D3-9CD874C25B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lIns="91440" tIns="45720" rIns="91440" bIns="45720" anchor="ctr"/>
          <a:lstStyle/>
          <a:p>
            <a:r>
              <a:rPr lang="en-US" sz="1600" b="1">
                <a:latin typeface="Arial"/>
                <a:cs typeface="Arial"/>
              </a:rPr>
              <a:t>Group 1</a:t>
            </a:r>
            <a:endParaRPr lang="en-US" sz="1600" b="1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CD07AD3-DD8E-6F8A-4838-E3B5AAB6E91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ABDF3ACB-BC28-B46B-FF4A-2BDF0F8083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Architecture, Technology &amp; Design Overview</a:t>
            </a:r>
          </a:p>
          <a:p>
            <a:endParaRPr lang="en-US"/>
          </a:p>
        </p:txBody>
      </p:sp>
      <p:sp>
        <p:nvSpPr>
          <p:cNvPr id="9" name="MainTitle">
            <a:extLst>
              <a:ext uri="{FF2B5EF4-FFF2-40B4-BE49-F238E27FC236}">
                <a16:creationId xmlns:a16="http://schemas.microsoft.com/office/drawing/2014/main" id="{E13429DD-7708-C4B2-04F6-88B9AC616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688" y="2438400"/>
            <a:ext cx="7986092" cy="1371600"/>
          </a:xfrm>
        </p:spPr>
        <p:txBody>
          <a:bodyPr/>
          <a:lstStyle/>
          <a:p>
            <a:r>
              <a:rPr lang="en-US">
                <a:latin typeface="Georgia"/>
                <a:cs typeface="Times New Roman"/>
              </a:rPr>
              <a:t>AI-Powered Feedback Miner and Action Recommendation Engine</a:t>
            </a:r>
          </a:p>
        </p:txBody>
      </p:sp>
    </p:spTree>
    <p:extLst>
      <p:ext uri="{BB962C8B-B14F-4D97-AF65-F5344CB8AC3E}">
        <p14:creationId xmlns:p14="http://schemas.microsoft.com/office/powerpoint/2010/main" val="96905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46336" cy="6858000"/>
          </a:xfrm>
          <a:prstGeom prst="rect">
            <a:avLst/>
          </a:prstGeom>
          <a:solidFill>
            <a:srgbClr val="F4F8F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 lIns="91440" tIns="45720" rIns="91440" bIns="45720" anchor="t"/>
          <a:lstStyle/>
          <a:p>
            <a:endParaRPr lang="en-US" sz="12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541565" cy="156243"/>
          </a:xfrm>
          <a:prstGeom prst="rect">
            <a:avLst/>
          </a:prstGeom>
          <a:solidFill>
            <a:srgbClr val="0B5C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35334" y="823358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AI-Powered Feedback Miner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432949" y="1319121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B6770"/>
                </a:solidFill>
              </a:rPr>
              <a:t>RAG + intelligent grading capstone project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429348" y="1872908"/>
            <a:ext cx="1204544" cy="656027"/>
          </a:xfrm>
          <a:prstGeom prst="roundRect">
            <a:avLst>
              <a:gd name="adj" fmla="val 18750"/>
            </a:avLst>
          </a:prstGeom>
          <a:solidFill>
            <a:srgbClr val="0B5C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 lIns="91440" tIns="45720" rIns="91440" bIns="45720" anchor="t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Ingest</a:t>
            </a:r>
            <a:r>
              <a:rPr lang="en-US" sz="1600">
                <a:solidFill>
                  <a:schemeClr val="bg1"/>
                </a:solidFill>
              </a:rPr>
              <a:t> </a:t>
            </a:r>
            <a:r>
              <a:rPr lang="en-US" sz="1400">
                <a:solidFill>
                  <a:schemeClr val="bg1"/>
                </a:solidFill>
              </a:rPr>
              <a:t>Feedback</a:t>
            </a:r>
            <a:endParaRPr lang="en-US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989585" y="1874101"/>
            <a:ext cx="1748789" cy="775295"/>
          </a:xfrm>
          <a:prstGeom prst="roundRect">
            <a:avLst>
              <a:gd name="adj" fmla="val 18750"/>
            </a:avLst>
          </a:prstGeom>
          <a:solidFill>
            <a:srgbClr val="6D5D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 lIns="91440" tIns="45720" rIns="91440" bIns="45720" anchor="t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Evaluate feedback sentiment and urgency</a:t>
            </a:r>
          </a:p>
        </p:txBody>
      </p:sp>
      <p:sp>
        <p:nvSpPr>
          <p:cNvPr id="10" name="Shape 8"/>
          <p:cNvSpPr/>
          <p:nvPr/>
        </p:nvSpPr>
        <p:spPr>
          <a:xfrm>
            <a:off x="7544221" y="1877729"/>
            <a:ext cx="1518302" cy="630537"/>
          </a:xfrm>
          <a:prstGeom prst="roundRect">
            <a:avLst>
              <a:gd name="adj" fmla="val 18750"/>
            </a:avLst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 lIns="91440" tIns="45720" rIns="91440" bIns="45720" anchor="ctr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Metrics Calculation</a:t>
            </a:r>
          </a:p>
        </p:txBody>
      </p:sp>
      <p:sp>
        <p:nvSpPr>
          <p:cNvPr id="13" name="Shape 11"/>
          <p:cNvSpPr/>
          <p:nvPr/>
        </p:nvSpPr>
        <p:spPr>
          <a:xfrm>
            <a:off x="849243" y="3099021"/>
            <a:ext cx="329184" cy="329184"/>
          </a:xfrm>
          <a:prstGeom prst="ellipse">
            <a:avLst/>
          </a:prstGeom>
          <a:solidFill>
            <a:srgbClr val="0B5C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02923" y="3099021"/>
            <a:ext cx="329184" cy="329184"/>
          </a:xfrm>
          <a:prstGeom prst="ellipse">
            <a:avLst/>
          </a:prstGeom>
          <a:solidFill>
            <a:srgbClr val="6D5D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40008" y="3099021"/>
            <a:ext cx="329184" cy="329184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58344" y="3099021"/>
            <a:ext cx="329184" cy="329184"/>
          </a:xfrm>
          <a:prstGeom prst="ellipse">
            <a:avLst/>
          </a:prstGeom>
          <a:solidFill>
            <a:srgbClr val="00B0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67059" y="3099021"/>
            <a:ext cx="329184" cy="32918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0040" y="651052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5B6770"/>
                </a:solidFill>
              </a:rPr>
              <a:t>© 2026 NTT DATA, Inc.</a:t>
            </a:r>
            <a:endParaRPr lang="en-US" sz="750"/>
          </a:p>
        </p:txBody>
      </p:sp>
      <p:sp>
        <p:nvSpPr>
          <p:cNvPr id="33" name="Text 31"/>
          <p:cNvSpPr/>
          <p:nvPr/>
        </p:nvSpPr>
        <p:spPr>
          <a:xfrm>
            <a:off x="854964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5B6770"/>
                </a:solidFill>
              </a:rPr>
              <a:t>1</a:t>
            </a:r>
            <a:endParaRPr lang="en-US" sz="80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9582580D-41F4-3020-233B-80880E5B029C}"/>
              </a:ext>
            </a:extLst>
          </p:cNvPr>
          <p:cNvSpPr/>
          <p:nvPr/>
        </p:nvSpPr>
        <p:spPr>
          <a:xfrm>
            <a:off x="319564" y="3614606"/>
            <a:ext cx="14173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2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A3C955EE-76DB-9A19-2549-2EEBB64874E5}"/>
              </a:ext>
            </a:extLst>
          </p:cNvPr>
          <p:cNvSpPr/>
          <p:nvPr/>
        </p:nvSpPr>
        <p:spPr>
          <a:xfrm>
            <a:off x="425915" y="3806630"/>
            <a:ext cx="119738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00" b="1"/>
              <a:t>Ingest feedback from user from multiple sources</a:t>
            </a: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F60ED982-6D4B-8DF9-FF51-8E2CF28B5140}"/>
              </a:ext>
            </a:extLst>
          </p:cNvPr>
          <p:cNvSpPr/>
          <p:nvPr/>
        </p:nvSpPr>
        <p:spPr>
          <a:xfrm>
            <a:off x="2292097" y="3623750"/>
            <a:ext cx="1225295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2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3EFC753F-8347-2C7A-772E-6FEAB6099F6B}"/>
              </a:ext>
            </a:extLst>
          </p:cNvPr>
          <p:cNvSpPr/>
          <p:nvPr/>
        </p:nvSpPr>
        <p:spPr>
          <a:xfrm>
            <a:off x="2334238" y="3750505"/>
            <a:ext cx="1061896" cy="52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850" b="1">
                <a:solidFill>
                  <a:srgbClr val="102A43"/>
                </a:solidFill>
              </a:rPr>
              <a:t>Identify Feedback sentiment and urgency score</a:t>
            </a:r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832815B3-3AD8-23F9-CEF1-7EDCEDE8D947}"/>
              </a:ext>
            </a:extLst>
          </p:cNvPr>
          <p:cNvSpPr/>
          <p:nvPr/>
        </p:nvSpPr>
        <p:spPr>
          <a:xfrm>
            <a:off x="4093464" y="3632894"/>
            <a:ext cx="112262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2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C000155A-2872-F5FD-DE12-BB2BB66000C9}"/>
              </a:ext>
            </a:extLst>
          </p:cNvPr>
          <p:cNvSpPr/>
          <p:nvPr/>
        </p:nvSpPr>
        <p:spPr>
          <a:xfrm>
            <a:off x="4184904" y="3753371"/>
            <a:ext cx="9326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102A43"/>
                </a:solidFill>
              </a:rPr>
              <a:t>Evaluate the theme of the feedback and cluster similar issues. Label them appropriately.</a:t>
            </a:r>
          </a:p>
        </p:txBody>
      </p:sp>
      <p:sp>
        <p:nvSpPr>
          <p:cNvPr id="40" name="Shape 13">
            <a:extLst>
              <a:ext uri="{FF2B5EF4-FFF2-40B4-BE49-F238E27FC236}">
                <a16:creationId xmlns:a16="http://schemas.microsoft.com/office/drawing/2014/main" id="{3F8EC64C-D96D-FD4C-48EA-8A0AA88886CF}"/>
              </a:ext>
            </a:extLst>
          </p:cNvPr>
          <p:cNvSpPr/>
          <p:nvPr/>
        </p:nvSpPr>
        <p:spPr>
          <a:xfrm>
            <a:off x="5865152" y="3632894"/>
            <a:ext cx="111556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2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6E66EB7E-3E04-315B-0FF5-FD12E29C96DD}"/>
              </a:ext>
            </a:extLst>
          </p:cNvPr>
          <p:cNvSpPr/>
          <p:nvPr/>
        </p:nvSpPr>
        <p:spPr>
          <a:xfrm>
            <a:off x="5977928" y="3757863"/>
            <a:ext cx="890016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850" b="1">
                <a:solidFill>
                  <a:srgbClr val="102A43"/>
                </a:solidFill>
              </a:rPr>
              <a:t>Open AI Recommendation Engine. Calculate the usefulness score.</a:t>
            </a:r>
          </a:p>
        </p:txBody>
      </p:sp>
      <p:sp>
        <p:nvSpPr>
          <p:cNvPr id="42" name="Shape 13">
            <a:extLst>
              <a:ext uri="{FF2B5EF4-FFF2-40B4-BE49-F238E27FC236}">
                <a16:creationId xmlns:a16="http://schemas.microsoft.com/office/drawing/2014/main" id="{5735AC3B-1D1E-F983-A109-3AAE637CBB4D}"/>
              </a:ext>
            </a:extLst>
          </p:cNvPr>
          <p:cNvSpPr/>
          <p:nvPr/>
        </p:nvSpPr>
        <p:spPr>
          <a:xfrm>
            <a:off x="7597535" y="3651182"/>
            <a:ext cx="1575337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E2EB"/>
            </a:solidFill>
            <a:prstDash val="solid"/>
          </a:ln>
        </p:spPr>
        <p:txBody>
          <a:bodyPr lIns="91440" tIns="45720" rIns="91440" bIns="45720" anchor="t"/>
          <a:lstStyle/>
          <a:p>
            <a:pPr algn="ctr"/>
            <a:r>
              <a:rPr lang="en-US" sz="900" b="1">
                <a:solidFill>
                  <a:srgbClr val="102A43"/>
                </a:solidFill>
              </a:rPr>
              <a:t>Calculate theme relevance, clustering precision and action recommendation usefulness.</a:t>
            </a:r>
            <a:endParaRPr lang="en-US"/>
          </a:p>
          <a:p>
            <a:endParaRPr lang="en-US"/>
          </a:p>
        </p:txBody>
      </p:sp>
      <p:sp>
        <p:nvSpPr>
          <p:cNvPr id="44" name="Shape 25">
            <a:extLst>
              <a:ext uri="{FF2B5EF4-FFF2-40B4-BE49-F238E27FC236}">
                <a16:creationId xmlns:a16="http://schemas.microsoft.com/office/drawing/2014/main" id="{E789760E-4C71-48EF-B61D-1E965566BAE1}"/>
              </a:ext>
            </a:extLst>
          </p:cNvPr>
          <p:cNvSpPr/>
          <p:nvPr/>
        </p:nvSpPr>
        <p:spPr>
          <a:xfrm>
            <a:off x="1787734" y="3998174"/>
            <a:ext cx="475488" cy="0"/>
          </a:xfrm>
          <a:prstGeom prst="line">
            <a:avLst/>
          </a:prstGeom>
          <a:noFill/>
          <a:ln w="16510">
            <a:solidFill>
              <a:srgbClr val="B9C7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26">
            <a:extLst>
              <a:ext uri="{FF2B5EF4-FFF2-40B4-BE49-F238E27FC236}">
                <a16:creationId xmlns:a16="http://schemas.microsoft.com/office/drawing/2014/main" id="{4ACDF268-1A93-B0F9-3F01-6A9598F98FC4}"/>
              </a:ext>
            </a:extLst>
          </p:cNvPr>
          <p:cNvSpPr/>
          <p:nvPr/>
        </p:nvSpPr>
        <p:spPr>
          <a:xfrm>
            <a:off x="3545786" y="3988552"/>
            <a:ext cx="466344" cy="0"/>
          </a:xfrm>
          <a:prstGeom prst="line">
            <a:avLst/>
          </a:prstGeom>
          <a:noFill/>
          <a:ln w="16510">
            <a:solidFill>
              <a:srgbClr val="B9C7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7F864F53-854E-2A27-06C6-C59F07AD797F}"/>
              </a:ext>
            </a:extLst>
          </p:cNvPr>
          <p:cNvSpPr/>
          <p:nvPr/>
        </p:nvSpPr>
        <p:spPr>
          <a:xfrm>
            <a:off x="5305925" y="3998174"/>
            <a:ext cx="466344" cy="0"/>
          </a:xfrm>
          <a:prstGeom prst="line">
            <a:avLst/>
          </a:prstGeom>
          <a:noFill/>
          <a:ln w="16510">
            <a:solidFill>
              <a:srgbClr val="B9C7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26">
            <a:extLst>
              <a:ext uri="{FF2B5EF4-FFF2-40B4-BE49-F238E27FC236}">
                <a16:creationId xmlns:a16="http://schemas.microsoft.com/office/drawing/2014/main" id="{F812F8F1-B101-464D-700E-CAACD0A4D293}"/>
              </a:ext>
            </a:extLst>
          </p:cNvPr>
          <p:cNvSpPr/>
          <p:nvPr/>
        </p:nvSpPr>
        <p:spPr>
          <a:xfrm>
            <a:off x="7092696" y="4021114"/>
            <a:ext cx="466344" cy="0"/>
          </a:xfrm>
          <a:prstGeom prst="line">
            <a:avLst/>
          </a:prstGeom>
          <a:noFill/>
          <a:ln w="16510">
            <a:solidFill>
              <a:srgbClr val="B9C7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E5E37CD-9993-B306-57A5-D93618598D8E}"/>
              </a:ext>
            </a:extLst>
          </p:cNvPr>
          <p:cNvSpPr/>
          <p:nvPr/>
        </p:nvSpPr>
        <p:spPr>
          <a:xfrm>
            <a:off x="3907835" y="1913856"/>
            <a:ext cx="1530130" cy="656026"/>
          </a:xfrm>
          <a:prstGeom prst="roundRect">
            <a:avLst>
              <a:gd name="adj" fmla="val 18750"/>
            </a:avLst>
          </a:prstGeom>
          <a:solidFill>
            <a:schemeClr val="accent4">
              <a:lumMod val="75000"/>
            </a:scheme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 lIns="91440" tIns="45720" rIns="91440" bIns="45720" anchor="ctr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Clustering and Labelling</a:t>
            </a: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34DBD233-EB84-8CBF-05F0-BBC15EB74E88}"/>
              </a:ext>
            </a:extLst>
          </p:cNvPr>
          <p:cNvSpPr/>
          <p:nvPr/>
        </p:nvSpPr>
        <p:spPr>
          <a:xfrm>
            <a:off x="5586209" y="1877729"/>
            <a:ext cx="1677327" cy="650416"/>
          </a:xfrm>
          <a:prstGeom prst="roundRect">
            <a:avLst>
              <a:gd name="adj" fmla="val 18750"/>
            </a:avLst>
          </a:prstGeom>
          <a:solidFill>
            <a:srgbClr val="00B0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 lIns="91440" tIns="45720" rIns="91440" bIns="45720" anchor="ctr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Action </a:t>
            </a:r>
            <a:r>
              <a:rPr lang="en-US" sz="1400" err="1">
                <a:solidFill>
                  <a:schemeClr val="bg1"/>
                </a:solidFill>
              </a:rPr>
              <a:t>Recommenda</a:t>
            </a:r>
            <a:r>
              <a:rPr lang="en-US" sz="1400">
                <a:solidFill>
                  <a:schemeClr val="bg1"/>
                </a:solidFill>
              </a:rPr>
              <a:t>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What the app does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594360" y="1325879"/>
            <a:ext cx="2514600" cy="1946707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" y="1472184"/>
            <a:ext cx="22585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00" b="1"/>
              <a:t>Feedback is collected and analyzed</a:t>
            </a:r>
          </a:p>
        </p:txBody>
      </p:sp>
      <p:sp>
        <p:nvSpPr>
          <p:cNvPr id="6" name="Text 4"/>
          <p:cNvSpPr/>
          <p:nvPr/>
        </p:nvSpPr>
        <p:spPr>
          <a:xfrm>
            <a:off x="758952" y="1901952"/>
            <a:ext cx="1945747" cy="128401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sz="1050"/>
              <a:t>Customer comments, complaints, and survey responses are uploaded into the system for intelligent processing and categorization.</a:t>
            </a:r>
          </a:p>
        </p:txBody>
      </p:sp>
      <p:sp>
        <p:nvSpPr>
          <p:cNvPr id="7" name="Shape 5"/>
          <p:cNvSpPr/>
          <p:nvPr/>
        </p:nvSpPr>
        <p:spPr>
          <a:xfrm>
            <a:off x="621792" y="1453896"/>
            <a:ext cx="54864" cy="704088"/>
          </a:xfrm>
          <a:prstGeom prst="rect">
            <a:avLst/>
          </a:prstGeom>
          <a:solidFill>
            <a:srgbClr val="0B5C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28416" y="1325879"/>
            <a:ext cx="2514600" cy="1946707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93008" y="1472184"/>
            <a:ext cx="1746023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100" b="1"/>
              <a:t>AI identifies recurring themes</a:t>
            </a:r>
          </a:p>
        </p:txBody>
      </p:sp>
      <p:sp>
        <p:nvSpPr>
          <p:cNvPr id="10" name="Text 8"/>
          <p:cNvSpPr/>
          <p:nvPr/>
        </p:nvSpPr>
        <p:spPr>
          <a:xfrm>
            <a:off x="3474720" y="2157984"/>
            <a:ext cx="2295144" cy="81622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/>
              <a:t>The OpenAI-powered analysis engine clusters similar issues, labels recurring themes, and detects high-impact customer concerns.</a:t>
            </a:r>
          </a:p>
        </p:txBody>
      </p:sp>
      <p:sp>
        <p:nvSpPr>
          <p:cNvPr id="11" name="Shape 9"/>
          <p:cNvSpPr/>
          <p:nvPr/>
        </p:nvSpPr>
        <p:spPr>
          <a:xfrm>
            <a:off x="3355848" y="1453896"/>
            <a:ext cx="54864" cy="704088"/>
          </a:xfrm>
          <a:prstGeom prst="rect">
            <a:avLst/>
          </a:prstGeom>
          <a:solidFill>
            <a:srgbClr val="6D5D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62472" y="1325880"/>
            <a:ext cx="2514600" cy="1946706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27064" y="1472184"/>
            <a:ext cx="1906283" cy="5854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b="1"/>
              <a:t>Action recommendations are generated</a:t>
            </a:r>
          </a:p>
        </p:txBody>
      </p:sp>
      <p:sp>
        <p:nvSpPr>
          <p:cNvPr id="14" name="Text 12"/>
          <p:cNvSpPr/>
          <p:nvPr/>
        </p:nvSpPr>
        <p:spPr>
          <a:xfrm>
            <a:off x="6208776" y="2211645"/>
            <a:ext cx="2295144" cy="9069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50"/>
              <a:t>The system recommends improvement actions, prioritizes business issues, and produces structured analytics for decision-making.</a:t>
            </a:r>
          </a:p>
        </p:txBody>
      </p:sp>
      <p:sp>
        <p:nvSpPr>
          <p:cNvPr id="15" name="Shape 13"/>
          <p:cNvSpPr/>
          <p:nvPr/>
        </p:nvSpPr>
        <p:spPr>
          <a:xfrm>
            <a:off x="6089904" y="1453896"/>
            <a:ext cx="54864" cy="704088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36392" y="1810512"/>
            <a:ext cx="155448" cy="0"/>
          </a:xfrm>
          <a:prstGeom prst="line">
            <a:avLst/>
          </a:prstGeom>
          <a:noFill/>
          <a:ln w="16510">
            <a:solidFill>
              <a:srgbClr val="B9C7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70448" y="1810512"/>
            <a:ext cx="164592" cy="0"/>
          </a:xfrm>
          <a:prstGeom prst="line">
            <a:avLst/>
          </a:prstGeom>
          <a:noFill/>
          <a:ln w="16510">
            <a:solidFill>
              <a:srgbClr val="B9C7D4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21344" y="3796926"/>
            <a:ext cx="6703996" cy="1783080"/>
          </a:xfrm>
          <a:prstGeom prst="roundRect">
            <a:avLst>
              <a:gd name="adj" fmla="val 4103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C9DFF5"/>
            </a:solidFill>
            <a:prstDash val="solid"/>
          </a:ln>
        </p:spPr>
        <p:txBody>
          <a:bodyPr/>
          <a:lstStyle/>
          <a:p>
            <a:endParaRPr lang="en-US" sz="1050" b="1"/>
          </a:p>
          <a:p>
            <a:endParaRPr lang="en-US" sz="1050" b="1"/>
          </a:p>
          <a:p>
            <a:r>
              <a:rPr lang="en-US" sz="1050" b="1"/>
              <a:t>Feedback Processing:</a:t>
            </a:r>
          </a:p>
          <a:p>
            <a:r>
              <a:rPr lang="en-US" sz="1050"/>
              <a:t>Upload Feedback → Preprocess Data → Cluster Similar Issues → Label Themes → Store Results</a:t>
            </a:r>
          </a:p>
          <a:p>
            <a:endParaRPr lang="en-US" sz="1050"/>
          </a:p>
          <a:p>
            <a:r>
              <a:rPr lang="en-US" sz="1050" b="1"/>
              <a:t>AI Analysis:</a:t>
            </a:r>
          </a:p>
          <a:p>
            <a:r>
              <a:rPr lang="en-US" sz="1050"/>
              <a:t>Retrieve Feedback → OpenAI Analysis → Impact Evaluation → Generate Recommendations → Analytics</a:t>
            </a:r>
          </a:p>
          <a:p>
            <a:endParaRPr lang="en-US" sz="1050"/>
          </a:p>
          <a:p>
            <a:r>
              <a:rPr lang="en-US" sz="1050" b="1"/>
              <a:t>Management Workflow:</a:t>
            </a:r>
          </a:p>
          <a:p>
            <a:r>
              <a:rPr lang="en-US" sz="1050"/>
              <a:t>Review Themes → Validate Recommendations → Track Insights → Export Reports</a:t>
            </a:r>
          </a:p>
        </p:txBody>
      </p:sp>
      <p:sp>
        <p:nvSpPr>
          <p:cNvPr id="19" name="Text 17"/>
          <p:cNvSpPr/>
          <p:nvPr/>
        </p:nvSpPr>
        <p:spPr>
          <a:xfrm>
            <a:off x="1243072" y="380016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02A43"/>
                </a:solidFill>
              </a:rPr>
              <a:t>Workflow</a:t>
            </a:r>
          </a:p>
        </p:txBody>
      </p:sp>
      <p:sp>
        <p:nvSpPr>
          <p:cNvPr id="23" name="Text 21"/>
          <p:cNvSpPr/>
          <p:nvPr/>
        </p:nvSpPr>
        <p:spPr>
          <a:xfrm>
            <a:off x="320040" y="651052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5B6770"/>
                </a:solidFill>
              </a:rPr>
              <a:t>© 2026 NTT DATA, Inc.</a:t>
            </a:r>
            <a:endParaRPr lang="en-US" sz="750"/>
          </a:p>
        </p:txBody>
      </p:sp>
      <p:sp>
        <p:nvSpPr>
          <p:cNvPr id="24" name="Text 22"/>
          <p:cNvSpPr/>
          <p:nvPr/>
        </p:nvSpPr>
        <p:spPr>
          <a:xfrm>
            <a:off x="8549640" y="649224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5B6770"/>
                </a:solidFill>
              </a:rPr>
              <a:t>2</a:t>
            </a:r>
            <a:endParaRPr lang="en-US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99E429B-DBDB-2325-A22E-EDAE83F852ED}"/>
              </a:ext>
            </a:extLst>
          </p:cNvPr>
          <p:cNvSpPr/>
          <p:nvPr/>
        </p:nvSpPr>
        <p:spPr>
          <a:xfrm>
            <a:off x="502920" y="3200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Technology design &amp; improvements</a:t>
            </a:r>
            <a:endParaRPr lang="en-US"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0C1D9D-597B-08B9-68E8-42E83235EEA3}"/>
              </a:ext>
            </a:extLst>
          </p:cNvPr>
          <p:cNvSpPr/>
          <p:nvPr/>
        </p:nvSpPr>
        <p:spPr>
          <a:xfrm>
            <a:off x="685800" y="993815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</a:rPr>
              <a:t>Core stack</a:t>
            </a:r>
            <a:endParaRPr lang="en-US" sz="1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F3D9019-F9B6-F347-8A81-3F6D6A6CFFFC}"/>
              </a:ext>
            </a:extLst>
          </p:cNvPr>
          <p:cNvSpPr/>
          <p:nvPr/>
        </p:nvSpPr>
        <p:spPr>
          <a:xfrm>
            <a:off x="685800" y="1405295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B5C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DE9DA65-096D-8F15-14C2-DA9E95658927}"/>
              </a:ext>
            </a:extLst>
          </p:cNvPr>
          <p:cNvSpPr/>
          <p:nvPr/>
        </p:nvSpPr>
        <p:spPr>
          <a:xfrm>
            <a:off x="1078992" y="1487591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02A43"/>
                </a:solidFill>
              </a:rPr>
              <a:t>ASP.NET core web API</a:t>
            </a:r>
            <a:endParaRPr lang="en-US" sz="9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D95AC16-6DE2-4551-7413-29CA2D5DE3A3}"/>
              </a:ext>
            </a:extLst>
          </p:cNvPr>
          <p:cNvSpPr/>
          <p:nvPr/>
        </p:nvSpPr>
        <p:spPr>
          <a:xfrm>
            <a:off x="2551176" y="1451015"/>
            <a:ext cx="15361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>
                <a:solidFill>
                  <a:srgbClr val="5B6770"/>
                </a:solidFill>
              </a:rPr>
              <a:t>Backend API development</a:t>
            </a:r>
            <a:endParaRPr lang="en-US" sz="9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EA9BA29-DF59-C152-9E2C-EFC31F2FC2B4}"/>
              </a:ext>
            </a:extLst>
          </p:cNvPr>
          <p:cNvSpPr/>
          <p:nvPr/>
        </p:nvSpPr>
        <p:spPr>
          <a:xfrm>
            <a:off x="685800" y="1935647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8240AA2-D6F3-5D99-3D2D-D20CA24A800B}"/>
              </a:ext>
            </a:extLst>
          </p:cNvPr>
          <p:cNvSpPr/>
          <p:nvPr/>
        </p:nvSpPr>
        <p:spPr>
          <a:xfrm>
            <a:off x="1078992" y="2027087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02A43"/>
                </a:solidFill>
              </a:rPr>
              <a:t>OpenAI API</a:t>
            </a:r>
            <a:endParaRPr lang="en-US" sz="9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65BF453-6FC3-A88D-A801-59C5DA6180C7}"/>
              </a:ext>
            </a:extLst>
          </p:cNvPr>
          <p:cNvSpPr/>
          <p:nvPr/>
        </p:nvSpPr>
        <p:spPr>
          <a:xfrm>
            <a:off x="685800" y="2465999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6D5D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D46B97F-E933-7E76-14D5-874CA6B8CE8B}"/>
              </a:ext>
            </a:extLst>
          </p:cNvPr>
          <p:cNvSpPr/>
          <p:nvPr/>
        </p:nvSpPr>
        <p:spPr>
          <a:xfrm>
            <a:off x="1078992" y="2530007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02A43"/>
                </a:solidFill>
              </a:rPr>
              <a:t>VS code</a:t>
            </a:r>
            <a:endParaRPr lang="en-US" sz="9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0756236-A434-FF41-ECC5-47E8CC027D22}"/>
              </a:ext>
            </a:extLst>
          </p:cNvPr>
          <p:cNvSpPr/>
          <p:nvPr/>
        </p:nvSpPr>
        <p:spPr>
          <a:xfrm>
            <a:off x="685800" y="2996351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B8427A6-B099-D20F-1CF5-FF8D90D9967B}"/>
              </a:ext>
            </a:extLst>
          </p:cNvPr>
          <p:cNvSpPr/>
          <p:nvPr/>
        </p:nvSpPr>
        <p:spPr>
          <a:xfrm>
            <a:off x="1078992" y="3060359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02A43"/>
                </a:solidFill>
              </a:rPr>
              <a:t>SQL server/SSMS</a:t>
            </a:r>
            <a:endParaRPr lang="en-US" sz="9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A9F8F19-82D7-E8B9-DD54-0760C0442413}"/>
              </a:ext>
            </a:extLst>
          </p:cNvPr>
          <p:cNvSpPr/>
          <p:nvPr/>
        </p:nvSpPr>
        <p:spPr>
          <a:xfrm>
            <a:off x="685800" y="3526703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22A6F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63B627A-51E5-61AD-675F-DC4AC1CA5405}"/>
              </a:ext>
            </a:extLst>
          </p:cNvPr>
          <p:cNvSpPr/>
          <p:nvPr/>
        </p:nvSpPr>
        <p:spPr>
          <a:xfrm>
            <a:off x="1078992" y="3618143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02A43"/>
                </a:solidFill>
              </a:rPr>
              <a:t>Swagger</a:t>
            </a:r>
            <a:endParaRPr lang="en-US" sz="9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E1C6AA9-925C-54CA-6EA3-E5CB66332CB7}"/>
              </a:ext>
            </a:extLst>
          </p:cNvPr>
          <p:cNvSpPr/>
          <p:nvPr/>
        </p:nvSpPr>
        <p:spPr>
          <a:xfrm>
            <a:off x="4892040" y="984671"/>
            <a:ext cx="0" cy="3246120"/>
          </a:xfrm>
          <a:prstGeom prst="line">
            <a:avLst/>
          </a:prstGeom>
          <a:noFill/>
          <a:ln w="12700">
            <a:solidFill>
              <a:srgbClr val="DF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94D87BD-C357-85D9-1666-96DAF00B25CD}"/>
              </a:ext>
            </a:extLst>
          </p:cNvPr>
          <p:cNvSpPr/>
          <p:nvPr/>
        </p:nvSpPr>
        <p:spPr>
          <a:xfrm>
            <a:off x="5257800" y="993815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02A43"/>
                </a:solidFill>
              </a:rPr>
              <a:t>Why the design is strong</a:t>
            </a:r>
            <a:endParaRPr lang="en-US" sz="15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22ABAE5-667C-0FAA-9CC5-2DB3FB7F3C02}"/>
              </a:ext>
            </a:extLst>
          </p:cNvPr>
          <p:cNvSpPr/>
          <p:nvPr/>
        </p:nvSpPr>
        <p:spPr>
          <a:xfrm>
            <a:off x="5266944" y="1482778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5584F68-7359-549C-5CCA-1247BF9D5047}"/>
              </a:ext>
            </a:extLst>
          </p:cNvPr>
          <p:cNvSpPr/>
          <p:nvPr/>
        </p:nvSpPr>
        <p:spPr>
          <a:xfrm>
            <a:off x="5276088" y="1839394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5A46B95-4960-6210-7A75-22B7E0E2B416}"/>
              </a:ext>
            </a:extLst>
          </p:cNvPr>
          <p:cNvSpPr/>
          <p:nvPr/>
        </p:nvSpPr>
        <p:spPr>
          <a:xfrm>
            <a:off x="5285232" y="2214298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034652A-302C-F164-543E-7D5A755C5A82}"/>
              </a:ext>
            </a:extLst>
          </p:cNvPr>
          <p:cNvSpPr/>
          <p:nvPr/>
        </p:nvSpPr>
        <p:spPr>
          <a:xfrm>
            <a:off x="5276088" y="2589202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8BE03CE-2D43-C307-3A1D-597F3F1FEC80}"/>
              </a:ext>
            </a:extLst>
          </p:cNvPr>
          <p:cNvSpPr/>
          <p:nvPr/>
        </p:nvSpPr>
        <p:spPr>
          <a:xfrm>
            <a:off x="713232" y="5186577"/>
            <a:ext cx="8110728" cy="868680"/>
          </a:xfrm>
          <a:prstGeom prst="roundRect">
            <a:avLst>
              <a:gd name="adj" fmla="val 8421"/>
            </a:avLst>
          </a:prstGeom>
          <a:solidFill>
            <a:srgbClr val="F8FBFE"/>
          </a:solidFill>
          <a:ln w="12700">
            <a:solidFill>
              <a:srgbClr val="D6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BF13356-A743-634B-9BB1-DF1873800540}"/>
              </a:ext>
            </a:extLst>
          </p:cNvPr>
          <p:cNvSpPr/>
          <p:nvPr/>
        </p:nvSpPr>
        <p:spPr>
          <a:xfrm>
            <a:off x="789272" y="5570625"/>
            <a:ext cx="12512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02A43"/>
                </a:solidFill>
              </a:rPr>
              <a:t>Next improvements</a:t>
            </a:r>
            <a:endParaRPr lang="en-US" sz="105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BFDB801-760B-D5DA-5961-31EAC16A0E9D}"/>
              </a:ext>
            </a:extLst>
          </p:cNvPr>
          <p:cNvSpPr/>
          <p:nvPr/>
        </p:nvSpPr>
        <p:spPr>
          <a:xfrm>
            <a:off x="2116596" y="5500521"/>
            <a:ext cx="6524484" cy="445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900"/>
              <a:t>Real-time feedback streaming</a:t>
            </a:r>
            <a:r>
              <a:rPr lang="en-US" sz="900">
                <a:solidFill>
                  <a:srgbClr val="1F2933"/>
                </a:solidFill>
              </a:rPr>
              <a:t>  •  Cloud deployment using Azure  •  Multilingual feedback processing  •  Predictive customer analytics   • Vector database integration    •  BI tools integration</a:t>
            </a:r>
            <a:endParaRPr lang="en-US" sz="9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AC6DEA9-A80F-1CB5-664E-2D8E1C2F675D}"/>
              </a:ext>
            </a:extLst>
          </p:cNvPr>
          <p:cNvSpPr/>
          <p:nvPr/>
        </p:nvSpPr>
        <p:spPr>
          <a:xfrm>
            <a:off x="320040" y="6366153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5B6770"/>
                </a:solidFill>
              </a:rPr>
              <a:t>© 2026 NTT DATA, Inc.</a:t>
            </a:r>
            <a:endParaRPr lang="en-US" sz="75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D2884A7-E78A-2873-BE6B-94F1BD0D880B}"/>
              </a:ext>
            </a:extLst>
          </p:cNvPr>
          <p:cNvSpPr/>
          <p:nvPr/>
        </p:nvSpPr>
        <p:spPr>
          <a:xfrm>
            <a:off x="8549640" y="6347865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5B6770"/>
                </a:solidFill>
              </a:rPr>
              <a:t>3</a:t>
            </a:r>
            <a:endParaRPr lang="en-US" sz="80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59DCCA1F-9D6D-EDCA-1F52-D1B3640C17E2}"/>
              </a:ext>
            </a:extLst>
          </p:cNvPr>
          <p:cNvSpPr/>
          <p:nvPr/>
        </p:nvSpPr>
        <p:spPr>
          <a:xfrm>
            <a:off x="5510784" y="1808914"/>
            <a:ext cx="2179303" cy="204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/>
              <a:t>Scalable ASP.NET Core architecture</a:t>
            </a:r>
            <a:endParaRPr lang="en-US" sz="94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F65E29-038C-41BD-9249-490D429C1B43}"/>
              </a:ext>
            </a:extLst>
          </p:cNvPr>
          <p:cNvSpPr txBox="1"/>
          <p:nvPr/>
        </p:nvSpPr>
        <p:spPr>
          <a:xfrm>
            <a:off x="5437632" y="2171103"/>
            <a:ext cx="2252460" cy="244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/>
              <a:t>OpenAI-powered semantic analysis</a:t>
            </a:r>
          </a:p>
        </p:txBody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CBB72A5A-DC04-9E68-D301-FD2043AFA6CB}"/>
              </a:ext>
            </a:extLst>
          </p:cNvPr>
          <p:cNvSpPr/>
          <p:nvPr/>
        </p:nvSpPr>
        <p:spPr>
          <a:xfrm>
            <a:off x="5516880" y="1485826"/>
            <a:ext cx="172516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1000"/>
              <a:t>Modular Agentic AI workflow</a:t>
            </a:r>
            <a:endParaRPr lang="en-US" sz="940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DBA7BD6C-3151-4478-94E6-2328CAD9B0A7}"/>
              </a:ext>
            </a:extLst>
          </p:cNvPr>
          <p:cNvSpPr/>
          <p:nvPr/>
        </p:nvSpPr>
        <p:spPr>
          <a:xfrm>
            <a:off x="5532120" y="2525194"/>
            <a:ext cx="21579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/>
              <a:t>Structured recommendation engine</a:t>
            </a:r>
            <a:endParaRPr lang="en-US" sz="940"/>
          </a:p>
        </p:txBody>
      </p:sp>
      <p:sp>
        <p:nvSpPr>
          <p:cNvPr id="40" name="Shape 26">
            <a:extLst>
              <a:ext uri="{FF2B5EF4-FFF2-40B4-BE49-F238E27FC236}">
                <a16:creationId xmlns:a16="http://schemas.microsoft.com/office/drawing/2014/main" id="{45262AFA-9A9B-3782-AD95-7F9362941E3E}"/>
              </a:ext>
            </a:extLst>
          </p:cNvPr>
          <p:cNvSpPr/>
          <p:nvPr/>
        </p:nvSpPr>
        <p:spPr>
          <a:xfrm>
            <a:off x="5282184" y="2942770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26">
            <a:extLst>
              <a:ext uri="{FF2B5EF4-FFF2-40B4-BE49-F238E27FC236}">
                <a16:creationId xmlns:a16="http://schemas.microsoft.com/office/drawing/2014/main" id="{02A18330-CB16-FACF-3CB0-18C8F526F769}"/>
              </a:ext>
            </a:extLst>
          </p:cNvPr>
          <p:cNvSpPr/>
          <p:nvPr/>
        </p:nvSpPr>
        <p:spPr>
          <a:xfrm>
            <a:off x="5288280" y="3305482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21">
            <a:extLst>
              <a:ext uri="{FF2B5EF4-FFF2-40B4-BE49-F238E27FC236}">
                <a16:creationId xmlns:a16="http://schemas.microsoft.com/office/drawing/2014/main" id="{EE48A841-5B6F-7A55-616B-88CADD0D6548}"/>
              </a:ext>
            </a:extLst>
          </p:cNvPr>
          <p:cNvSpPr/>
          <p:nvPr/>
        </p:nvSpPr>
        <p:spPr>
          <a:xfrm>
            <a:off x="5529072" y="2878762"/>
            <a:ext cx="21579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1000"/>
              <a:t>SQL – based centralized data management</a:t>
            </a:r>
            <a:endParaRPr lang="en-US" sz="940"/>
          </a:p>
        </p:txBody>
      </p:sp>
      <p:sp>
        <p:nvSpPr>
          <p:cNvPr id="43" name="Text 21">
            <a:extLst>
              <a:ext uri="{FF2B5EF4-FFF2-40B4-BE49-F238E27FC236}">
                <a16:creationId xmlns:a16="http://schemas.microsoft.com/office/drawing/2014/main" id="{BEEE102B-57F1-5392-66F2-86BD6F35F0A3}"/>
              </a:ext>
            </a:extLst>
          </p:cNvPr>
          <p:cNvSpPr/>
          <p:nvPr/>
        </p:nvSpPr>
        <p:spPr>
          <a:xfrm>
            <a:off x="5510784" y="3253666"/>
            <a:ext cx="21579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/>
              <a:t>Enterprise ready API design</a:t>
            </a:r>
            <a:endParaRPr lang="en-US" sz="940"/>
          </a:p>
        </p:txBody>
      </p:sp>
      <p:sp>
        <p:nvSpPr>
          <p:cNvPr id="44" name="Shape 3">
            <a:extLst>
              <a:ext uri="{FF2B5EF4-FFF2-40B4-BE49-F238E27FC236}">
                <a16:creationId xmlns:a16="http://schemas.microsoft.com/office/drawing/2014/main" id="{7A65E2D5-9585-7639-9FC9-92412D90CD48}"/>
              </a:ext>
            </a:extLst>
          </p:cNvPr>
          <p:cNvSpPr/>
          <p:nvPr/>
        </p:nvSpPr>
        <p:spPr>
          <a:xfrm>
            <a:off x="682752" y="4072295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B5C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8AA15389-6493-9936-5228-A67ADB4F9B05}"/>
              </a:ext>
            </a:extLst>
          </p:cNvPr>
          <p:cNvSpPr/>
          <p:nvPr/>
        </p:nvSpPr>
        <p:spPr>
          <a:xfrm>
            <a:off x="1066800" y="4136303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02A43"/>
                </a:solidFill>
              </a:rPr>
              <a:t>C# console application</a:t>
            </a:r>
            <a:endParaRPr lang="en-US" sz="950"/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C14D5204-EA80-546B-E4D5-FCCDF45D5E7D}"/>
              </a:ext>
            </a:extLst>
          </p:cNvPr>
          <p:cNvSpPr/>
          <p:nvPr/>
        </p:nvSpPr>
        <p:spPr>
          <a:xfrm>
            <a:off x="701040" y="4566071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7BC336C4-FC17-E022-E012-A092F7C6B930}"/>
              </a:ext>
            </a:extLst>
          </p:cNvPr>
          <p:cNvSpPr/>
          <p:nvPr/>
        </p:nvSpPr>
        <p:spPr>
          <a:xfrm>
            <a:off x="1094232" y="4657511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102A43"/>
                </a:solidFill>
              </a:rPr>
              <a:t>GitHub</a:t>
            </a:r>
            <a:endParaRPr lang="en-US" sz="950"/>
          </a:p>
        </p:txBody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0B786140-F069-36F3-0F06-396806D31874}"/>
              </a:ext>
            </a:extLst>
          </p:cNvPr>
          <p:cNvSpPr/>
          <p:nvPr/>
        </p:nvSpPr>
        <p:spPr>
          <a:xfrm>
            <a:off x="2538984" y="1960031"/>
            <a:ext cx="224332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>
                <a:solidFill>
                  <a:srgbClr val="5B6770"/>
                </a:solidFill>
              </a:rPr>
              <a:t>Theme detection &amp; recommendation generation</a:t>
            </a:r>
            <a:endParaRPr lang="en-US" sz="900"/>
          </a:p>
        </p:txBody>
      </p:sp>
      <p:sp>
        <p:nvSpPr>
          <p:cNvPr id="49" name="Text 5">
            <a:extLst>
              <a:ext uri="{FF2B5EF4-FFF2-40B4-BE49-F238E27FC236}">
                <a16:creationId xmlns:a16="http://schemas.microsoft.com/office/drawing/2014/main" id="{CF94ABF5-B0BA-8988-7E42-43E8AEE93F38}"/>
              </a:ext>
            </a:extLst>
          </p:cNvPr>
          <p:cNvSpPr/>
          <p:nvPr/>
        </p:nvSpPr>
        <p:spPr>
          <a:xfrm>
            <a:off x="2545080" y="2551343"/>
            <a:ext cx="15361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>
                <a:solidFill>
                  <a:srgbClr val="5B6770"/>
                </a:solidFill>
              </a:rPr>
              <a:t>Development environment</a:t>
            </a:r>
            <a:endParaRPr lang="en-US" sz="900"/>
          </a:p>
        </p:txBody>
      </p:sp>
      <p:sp>
        <p:nvSpPr>
          <p:cNvPr id="50" name="Text 5">
            <a:extLst>
              <a:ext uri="{FF2B5EF4-FFF2-40B4-BE49-F238E27FC236}">
                <a16:creationId xmlns:a16="http://schemas.microsoft.com/office/drawing/2014/main" id="{D096C7B3-44B4-B9A3-59AB-96ED7C6EE97A}"/>
              </a:ext>
            </a:extLst>
          </p:cNvPr>
          <p:cNvSpPr/>
          <p:nvPr/>
        </p:nvSpPr>
        <p:spPr>
          <a:xfrm>
            <a:off x="2560320" y="3051215"/>
            <a:ext cx="183184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>
                <a:solidFill>
                  <a:srgbClr val="5B6770"/>
                </a:solidFill>
              </a:rPr>
              <a:t>Feedback &amp; analytics data storage</a:t>
            </a:r>
            <a:endParaRPr lang="en-US" sz="90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748394FC-B1B4-EF66-E840-A4DA337E3029}"/>
              </a:ext>
            </a:extLst>
          </p:cNvPr>
          <p:cNvSpPr/>
          <p:nvPr/>
        </p:nvSpPr>
        <p:spPr>
          <a:xfrm>
            <a:off x="2566416" y="3615095"/>
            <a:ext cx="15361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>
                <a:solidFill>
                  <a:srgbClr val="5B6770"/>
                </a:solidFill>
              </a:rPr>
              <a:t>API testing &amp; validation</a:t>
            </a:r>
            <a:endParaRPr lang="en-US" sz="900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A4C1460A-B834-5BC8-10DF-6202ADFE7E9B}"/>
              </a:ext>
            </a:extLst>
          </p:cNvPr>
          <p:cNvSpPr/>
          <p:nvPr/>
        </p:nvSpPr>
        <p:spPr>
          <a:xfrm>
            <a:off x="2563368" y="4124111"/>
            <a:ext cx="2133595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>
                <a:solidFill>
                  <a:srgbClr val="5B6770"/>
                </a:solidFill>
              </a:rPr>
              <a:t>Processing &amp; orchestration workflows</a:t>
            </a:r>
            <a:endParaRPr lang="en-US" sz="900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66680B23-DF71-E9E2-C135-3B75D310B75D}"/>
              </a:ext>
            </a:extLst>
          </p:cNvPr>
          <p:cNvSpPr/>
          <p:nvPr/>
        </p:nvSpPr>
        <p:spPr>
          <a:xfrm>
            <a:off x="2545080" y="4660559"/>
            <a:ext cx="153619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>
                <a:solidFill>
                  <a:srgbClr val="5B6770"/>
                </a:solidFill>
              </a:rPr>
              <a:t>Version control &amp; collaboration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722763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1">
            <a:extLst>
              <a:ext uri="{FF2B5EF4-FFF2-40B4-BE49-F238E27FC236}">
                <a16:creationId xmlns:a16="http://schemas.microsoft.com/office/drawing/2014/main" id="{4D4CB023-4A93-44EB-F5C2-4FF7D8EC98D8}"/>
              </a:ext>
            </a:extLst>
          </p:cNvPr>
          <p:cNvSpPr/>
          <p:nvPr/>
        </p:nvSpPr>
        <p:spPr>
          <a:xfrm>
            <a:off x="320040" y="651052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5B6770"/>
                </a:solidFill>
              </a:rPr>
              <a:t>© 2026 NTT DATA, Inc.</a:t>
            </a:r>
            <a:endParaRPr lang="en-US" sz="75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C7A30FE-0CA1-0619-27F7-56AC5EF2D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015090"/>
              </p:ext>
            </p:extLst>
          </p:nvPr>
        </p:nvGraphicFramePr>
        <p:xfrm>
          <a:off x="198408" y="4147768"/>
          <a:ext cx="8738558" cy="22870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354713">
                  <a:extLst>
                    <a:ext uri="{9D8B030D-6E8A-4147-A177-3AD203B41FA5}">
                      <a16:colId xmlns:a16="http://schemas.microsoft.com/office/drawing/2014/main" val="1734040786"/>
                    </a:ext>
                  </a:extLst>
                </a:gridCol>
                <a:gridCol w="2002724">
                  <a:extLst>
                    <a:ext uri="{9D8B030D-6E8A-4147-A177-3AD203B41FA5}">
                      <a16:colId xmlns:a16="http://schemas.microsoft.com/office/drawing/2014/main" val="4045276678"/>
                    </a:ext>
                  </a:extLst>
                </a:gridCol>
                <a:gridCol w="5381121">
                  <a:extLst>
                    <a:ext uri="{9D8B030D-6E8A-4147-A177-3AD203B41FA5}">
                      <a16:colId xmlns:a16="http://schemas.microsoft.com/office/drawing/2014/main" val="2700821652"/>
                    </a:ext>
                  </a:extLst>
                </a:gridCol>
              </a:tblGrid>
              <a:tr h="381170">
                <a:tc>
                  <a:txBody>
                    <a:bodyPr/>
                    <a:lstStyle/>
                    <a:p>
                      <a:r>
                        <a:rPr lang="en-US" sz="1100"/>
                        <a:t>Portal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4408939"/>
                  </a:ext>
                </a:extLst>
              </a:tr>
              <a:tr h="381170">
                <a:tc>
                  <a:txBody>
                    <a:bodyPr/>
                    <a:lstStyle/>
                    <a:p>
                      <a:r>
                        <a:rPr lang="en-US" sz="1100"/>
                        <a:t>348511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Abhipsha Satpathy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hlinkClick r:id="rId2"/>
                        </a:rPr>
                        <a:t>Abhipsha.Satpathy@nttdata.com</a:t>
                      </a:r>
                      <a:r>
                        <a:rPr lang="en-US" sz="110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5710881"/>
                  </a:ext>
                </a:extLst>
              </a:tr>
              <a:tr h="381170">
                <a:tc>
                  <a:txBody>
                    <a:bodyPr/>
                    <a:lstStyle/>
                    <a:p>
                      <a:r>
                        <a:rPr lang="en-US" sz="1100"/>
                        <a:t>347092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Mahima Munjal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hlinkClick r:id="rId3"/>
                        </a:rPr>
                        <a:t>Mahima.Munjal@nttdata.com</a:t>
                      </a:r>
                      <a:r>
                        <a:rPr lang="en-US" sz="110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182175"/>
                  </a:ext>
                </a:extLst>
              </a:tr>
              <a:tr h="381170">
                <a:tc>
                  <a:txBody>
                    <a:bodyPr/>
                    <a:lstStyle/>
                    <a:p>
                      <a:r>
                        <a:rPr lang="en-US" sz="1100"/>
                        <a:t>221019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Mahima V Bhandari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hlinkClick r:id="rId4"/>
                        </a:rPr>
                        <a:t>Mahima.Bhandari@nttdata.com</a:t>
                      </a:r>
                      <a:r>
                        <a:rPr lang="en-US" sz="110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495017"/>
                  </a:ext>
                </a:extLst>
              </a:tr>
              <a:tr h="381170">
                <a:tc>
                  <a:txBody>
                    <a:bodyPr/>
                    <a:lstStyle/>
                    <a:p>
                      <a:r>
                        <a:rPr lang="en-US" sz="1100"/>
                        <a:t>345559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Supriya Ghadge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hlinkClick r:id="rId5"/>
                        </a:rPr>
                        <a:t>GhadgeSupriya.Kailas@nttdata.com</a:t>
                      </a:r>
                      <a:endParaRPr lang="en-US" sz="11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922353"/>
                  </a:ext>
                </a:extLst>
              </a:tr>
              <a:tr h="381170">
                <a:tc>
                  <a:txBody>
                    <a:bodyPr/>
                    <a:lstStyle/>
                    <a:p>
                      <a:r>
                        <a:rPr lang="en-US" sz="1100"/>
                        <a:t>356468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Satya P Arya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hlinkClick r:id="rId6"/>
                        </a:rPr>
                        <a:t>SatyaPrakash.Arya@nttdata.com</a:t>
                      </a:r>
                      <a:r>
                        <a:rPr lang="en-US" sz="110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689426"/>
                  </a:ext>
                </a:extLst>
              </a:tr>
            </a:tbl>
          </a:graphicData>
        </a:graphic>
      </p:graphicFrame>
      <p:sp>
        <p:nvSpPr>
          <p:cNvPr id="16" name="Text 0">
            <a:extLst>
              <a:ext uri="{FF2B5EF4-FFF2-40B4-BE49-F238E27FC236}">
                <a16:creationId xmlns:a16="http://schemas.microsoft.com/office/drawing/2014/main" id="{DE495B48-0DBF-50A8-9ACF-427FF89FAD91}"/>
              </a:ext>
            </a:extLst>
          </p:cNvPr>
          <p:cNvSpPr/>
          <p:nvPr/>
        </p:nvSpPr>
        <p:spPr>
          <a:xfrm>
            <a:off x="3657600" y="320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02A43"/>
                </a:solidFill>
                <a:latin typeface="Aptos Display" pitchFamily="34" charset="0"/>
              </a:rPr>
              <a:t>Screenshots</a:t>
            </a:r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7306D2-D6B4-0115-4A17-8EF6DE12F2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2235" y="1266879"/>
            <a:ext cx="3281711" cy="23293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AE6C07-2895-0C9A-81EB-11D83C48F1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5124" y="1284131"/>
            <a:ext cx="2587925" cy="23293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9FCCCC-80F8-E771-0C7E-1F6DF9BCD3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054" y="1318637"/>
            <a:ext cx="2787048" cy="228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0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841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overs - Full Image Background">
  <a:themeElements>
    <a:clrScheme name="NTT DATA Colors 1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0072B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00FF"/>
      </a:hlink>
      <a:folHlink>
        <a:srgbClr val="0000FF"/>
      </a:folHlink>
    </a:clrScheme>
    <a:fontScheme name="NTT_DATA_Aria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solidFill>
            <a:schemeClr val="accent2"/>
          </a:solidFill>
        </a:ln>
      </a:spPr>
      <a:bodyPr lIns="108000" tIns="72000" rIns="108000" bIns="72000" rtlCol="0" anchor="ctr"/>
      <a:lstStyle>
        <a:defPPr algn="ctr">
          <a:lnSpc>
            <a:spcPct val="110000"/>
          </a:lnSpc>
          <a:spcBef>
            <a:spcPts val="600"/>
          </a:spcBef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 algn="l">
          <a:defRPr dirty="0"/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6BFB1022-CB34-4B15-9F3B-8B01968DD371}"/>
    </a:ext>
  </a:extLst>
</a:theme>
</file>

<file path=ppt/theme/theme3.xml><?xml version="1.0" encoding="utf-8"?>
<a:theme xmlns:a="http://schemas.openxmlformats.org/drawingml/2006/main" name="2_Back Covers">
  <a:themeElements>
    <a:clrScheme name="NTT DATA Colors 1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0072B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00FF"/>
      </a:hlink>
      <a:folHlink>
        <a:srgbClr val="0000FF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 cap="rnd">
          <a:solidFill>
            <a:schemeClr val="tx1">
              <a:lumMod val="50000"/>
            </a:schemeClr>
          </a:solidFill>
          <a:round/>
        </a:ln>
      </a:spPr>
      <a:bodyPr rtlCol="0" anchor="ctr"/>
      <a:lstStyle>
        <a:defPPr algn="ctr">
          <a:defRPr sz="1800" dirty="0" err="1" smtClean="0">
            <a:solidFill>
              <a:srgbClr val="2E404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rgbClr val="2E404D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DB1D71C7-A2A5-436F-AEBF-D0FAA4B4580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6</Slides>
  <Notes>2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Office Theme</vt:lpstr>
      <vt:lpstr>1_Covers - Full Image Background</vt:lpstr>
      <vt:lpstr>2_Back Covers</vt:lpstr>
      <vt:lpstr>AI-Powered Feedback Miner and Action Recommendation Engine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NTT DATA,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IT Exam Generator - Simplified</dc:title>
  <dc:subject>PptxGenJS Presentation</dc:subject>
  <dc:creator>OpenAI</dc:creator>
  <cp:revision>1</cp:revision>
  <dcterms:created xsi:type="dcterms:W3CDTF">2026-04-28T04:44:20Z</dcterms:created>
  <dcterms:modified xsi:type="dcterms:W3CDTF">2026-05-11T08:08:36Z</dcterms:modified>
</cp:coreProperties>
</file>